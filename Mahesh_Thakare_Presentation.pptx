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" name="Shape 2"/>
          <p:cNvSpPr/>
          <p:nvPr/>
        </p:nvSpPr>
        <p:spPr>
          <a:xfrm>
            <a:off x="6949440" y="502920"/>
            <a:ext cx="2103120" cy="1097280"/>
          </a:xfrm>
          <a:prstGeom prst="rect">
            <a:avLst/>
          </a:prstGeom>
          <a:solidFill>
            <a:srgbClr val="33415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949440" y="57607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3,900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949440" y="11430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Records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949440" y="1874520"/>
            <a:ext cx="2103120" cy="1097280"/>
          </a:xfrm>
          <a:prstGeom prst="rect">
            <a:avLst/>
          </a:prstGeom>
          <a:solidFill>
            <a:srgbClr val="33415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949440" y="194767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$59.76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949440" y="25146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Purchase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949440" y="3246120"/>
            <a:ext cx="2103120" cy="1097280"/>
          </a:xfrm>
          <a:prstGeom prst="rect">
            <a:avLst/>
          </a:prstGeom>
          <a:solidFill>
            <a:srgbClr val="33415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949440" y="331927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3.75★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949440" y="38862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Rating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74320" y="45720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CUSTOMER SHOPPING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274320" y="109728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spc="200" kern="0" dirty="0">
                <a:solidFill>
                  <a:srgbClr val="0EA5E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BEHAVIOR ANALYSIS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274320" y="19202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Analytics Project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74320" y="2468880"/>
            <a:ext cx="1645920" cy="347472"/>
          </a:xfrm>
          <a:prstGeom prst="roundRect">
            <a:avLst>
              <a:gd name="adj" fmla="val 15789"/>
            </a:avLst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" y="246888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Pandas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286000" y="2468880"/>
            <a:ext cx="1645920" cy="347472"/>
          </a:xfrm>
          <a:prstGeom prst="roundRect">
            <a:avLst>
              <a:gd name="adj" fmla="val 15789"/>
            </a:avLst>
          </a:prstGeom>
          <a:solidFill>
            <a:srgbClr val="0891B2"/>
          </a:solidFill>
          <a:ln/>
        </p:spPr>
      </p:sp>
      <p:sp>
        <p:nvSpPr>
          <p:cNvPr id="19" name="Text 17"/>
          <p:cNvSpPr/>
          <p:nvPr/>
        </p:nvSpPr>
        <p:spPr>
          <a:xfrm>
            <a:off x="2286000" y="246888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931920" y="2468880"/>
            <a:ext cx="1645920" cy="347472"/>
          </a:xfrm>
          <a:prstGeom prst="roundRect">
            <a:avLst>
              <a:gd name="adj" fmla="val 15789"/>
            </a:avLst>
          </a:prstGeom>
          <a:solidFill>
            <a:srgbClr val="EA580C"/>
          </a:solidFill>
          <a:ln/>
        </p:spPr>
      </p:sp>
      <p:sp>
        <p:nvSpPr>
          <p:cNvPr id="21" name="Text 19"/>
          <p:cNvSpPr/>
          <p:nvPr/>
        </p:nvSpPr>
        <p:spPr>
          <a:xfrm>
            <a:off x="3931920" y="246888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74320" y="4480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Mahesh Thakare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📌  Business Problem &amp; Dataset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8595360" cy="10058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88720"/>
            <a:ext cx="64008" cy="10058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34440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the company leverage customer shopping data to identify trends, improve customer engagement, and optimize marketing and product strategies?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2423160"/>
            <a:ext cx="1920240" cy="1371600"/>
          </a:xfrm>
          <a:prstGeom prst="rect">
            <a:avLst/>
          </a:prstGeom>
          <a:solidFill>
            <a:srgbClr val="33415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" y="251460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📦 3,900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74320" y="31546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50592" y="2423160"/>
            <a:ext cx="1920240" cy="1371600"/>
          </a:xfrm>
          <a:prstGeom prst="rect">
            <a:avLst/>
          </a:prstGeom>
          <a:solidFill>
            <a:srgbClr val="33415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450592" y="251460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📋 18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450592" y="31546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26864" y="2423160"/>
            <a:ext cx="1920240" cy="1371600"/>
          </a:xfrm>
          <a:prstGeom prst="rect">
            <a:avLst/>
          </a:prstGeom>
          <a:solidFill>
            <a:srgbClr val="33415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26864" y="251460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⚠️ 37 nulls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626864" y="31546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803136" y="2423160"/>
            <a:ext cx="1920240" cy="1371600"/>
          </a:xfrm>
          <a:prstGeom prst="rect">
            <a:avLst/>
          </a:prstGeom>
          <a:solidFill>
            <a:srgbClr val="33415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03136" y="251460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🏷️ 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803136" y="31546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74320" y="402336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columns: customer_id, age, gender, item_purchased, category, purchase_amount, review_rating, subscription_status, shipping_type, previous_purchases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🐍  Python — EDA &amp; Data Cleaning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4206240" cy="8229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43000"/>
            <a:ext cx="320040" cy="8229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143000"/>
            <a:ext cx="320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1887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Loading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40080" y="1527048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pd.read_csv() — 3,900 rows, 18 columns imported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709160" y="1143000"/>
            <a:ext cx="4206240" cy="8229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143000"/>
            <a:ext cx="320040" cy="8229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4709160" y="1143000"/>
            <a:ext cx="320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74920" y="11887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074920" y="1527048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df.info(), df.describe(include='all'), df.isnull().sum()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74320" y="2103120"/>
            <a:ext cx="4206240" cy="8229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103120"/>
            <a:ext cx="320040" cy="8229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" y="2103120"/>
            <a:ext cx="320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21488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Imputation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40080" y="2487168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nulls in review_rating → category-wise median fill (not global)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709160" y="2103120"/>
            <a:ext cx="4206240" cy="8229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2103120"/>
            <a:ext cx="320040" cy="8229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1" name="Text 19"/>
          <p:cNvSpPr/>
          <p:nvPr/>
        </p:nvSpPr>
        <p:spPr>
          <a:xfrm>
            <a:off x="4709160" y="2103120"/>
            <a:ext cx="320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74920" y="21488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Snake Case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074920" y="2487168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columns: .str.lower().str.replace(' ','_')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74320" y="3063240"/>
            <a:ext cx="4206240" cy="8229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063240"/>
            <a:ext cx="320040" cy="8229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6" name="Text 24"/>
          <p:cNvSpPr/>
          <p:nvPr/>
        </p:nvSpPr>
        <p:spPr>
          <a:xfrm>
            <a:off x="274320" y="3063240"/>
            <a:ext cx="320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" y="31089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Feature: age_group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40080" y="3447288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segments via pd.qcut() — Young Adult / Adult / Middle-aged / Senior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709160" y="3063240"/>
            <a:ext cx="4206240" cy="8229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09160" y="3063240"/>
            <a:ext cx="320040" cy="8229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1" name="Text 29"/>
          <p:cNvSpPr/>
          <p:nvPr/>
        </p:nvSpPr>
        <p:spPr>
          <a:xfrm>
            <a:off x="4709160" y="3063240"/>
            <a:ext cx="320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074920" y="31089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Feature: freq_days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074920" y="3447288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(Weekly) → numeric (7 days) using .map(frequency_dict)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74320" y="4023360"/>
            <a:ext cx="4206240" cy="8229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74320" y="4023360"/>
            <a:ext cx="320040" cy="8229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6" name="Text 34"/>
          <p:cNvSpPr/>
          <p:nvPr/>
        </p:nvSpPr>
        <p:spPr>
          <a:xfrm>
            <a:off x="274320" y="4023360"/>
            <a:ext cx="320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40080" y="40690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Redundancy Check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40080" y="4407408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discount_applied == promo_code_used → dropped promo_code_used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709160" y="4023360"/>
            <a:ext cx="4206240" cy="8229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09160" y="4023360"/>
            <a:ext cx="320040" cy="8229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1" name="Text 39"/>
          <p:cNvSpPr/>
          <p:nvPr/>
        </p:nvSpPr>
        <p:spPr>
          <a:xfrm>
            <a:off x="4709160" y="4023360"/>
            <a:ext cx="320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074920" y="40690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Export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074920" y="4407408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df.to_sql() via SQLAlchemy → loaded into PostgreSQL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🗄️  PostgreSQL — 10 Business Questions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206240" cy="6858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411480" cy="6858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097280"/>
            <a:ext cx="411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113385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Gender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" y="144475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Male: $157,890 vs Female: $75,191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" y="1874520"/>
            <a:ext cx="4206240" cy="6858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874520"/>
            <a:ext cx="411480" cy="6858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1874520"/>
            <a:ext cx="411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31520" y="191109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High-Spend Discount Users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1520" y="22219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839 customers spent above avg with discount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74320" y="2651760"/>
            <a:ext cx="4206240" cy="6858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651760"/>
            <a:ext cx="411480" cy="6858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" y="2651760"/>
            <a:ext cx="411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31520" y="268833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Products by Rating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31520" y="299923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Gloves 3.86 ★, Sandals 3.84 ★, Boots 3.82 ★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74320" y="3429000"/>
            <a:ext cx="4206240" cy="6858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429000"/>
            <a:ext cx="411480" cy="6858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3429000"/>
            <a:ext cx="411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31520" y="34655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Spend Compare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31520" y="377647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$60.48 &gt; Standard $58.46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74320" y="4206240"/>
            <a:ext cx="4206240" cy="6858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4206240"/>
            <a:ext cx="411480" cy="6858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6" name="Text 24"/>
          <p:cNvSpPr/>
          <p:nvPr/>
        </p:nvSpPr>
        <p:spPr>
          <a:xfrm>
            <a:off x="274320" y="4206240"/>
            <a:ext cx="411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31520" y="42428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 Revenue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31520" y="455371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Non-sub: $170K vs Sub: $62K — gap opportunity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709160" y="1097280"/>
            <a:ext cx="4206240" cy="6858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09160" y="1097280"/>
            <a:ext cx="411480" cy="6858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1" name="Text 29"/>
          <p:cNvSpPr/>
          <p:nvPr/>
        </p:nvSpPr>
        <p:spPr>
          <a:xfrm>
            <a:off x="4709160" y="1097280"/>
            <a:ext cx="411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166360" y="113385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Discount-Heavy Products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166360" y="144475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 50%, Sneakers 49.7%, Coat 49.1%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709160" y="1874520"/>
            <a:ext cx="4206240" cy="6858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09160" y="1874520"/>
            <a:ext cx="411480" cy="6858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6" name="Text 34"/>
          <p:cNvSpPr/>
          <p:nvPr/>
        </p:nvSpPr>
        <p:spPr>
          <a:xfrm>
            <a:off x="4709160" y="1874520"/>
            <a:ext cx="411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Q7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166360" y="191109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166360" y="22219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Loyal: 3,116 | Returning: 701 | New: 83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709160" y="2651760"/>
            <a:ext cx="4206240" cy="6858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09160" y="2651760"/>
            <a:ext cx="411480" cy="6858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1" name="Text 39"/>
          <p:cNvSpPr/>
          <p:nvPr/>
        </p:nvSpPr>
        <p:spPr>
          <a:xfrm>
            <a:off x="4709160" y="2651760"/>
            <a:ext cx="411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Q8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166360" y="268833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per Category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166360" y="299923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Fn: ROW_NUMBER() OVER (PARTITION BY)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709160" y="3429000"/>
            <a:ext cx="4206240" cy="6858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709160" y="3429000"/>
            <a:ext cx="411480" cy="6858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6" name="Text 44"/>
          <p:cNvSpPr/>
          <p:nvPr/>
        </p:nvSpPr>
        <p:spPr>
          <a:xfrm>
            <a:off x="4709160" y="3429000"/>
            <a:ext cx="411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Q9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166360" y="34655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Buyers &amp; Subs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166360" y="377647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2,518 repeat buyers NOT subscribed — critical gap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709160" y="4206240"/>
            <a:ext cx="4206240" cy="6858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709160" y="4206240"/>
            <a:ext cx="411480" cy="6858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1" name="Text 49"/>
          <p:cNvSpPr/>
          <p:nvPr/>
        </p:nvSpPr>
        <p:spPr>
          <a:xfrm>
            <a:off x="4709160" y="4206240"/>
            <a:ext cx="411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Q10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166360" y="42428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Age Group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166360" y="455371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 Adult leads: $62K revenue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📊  Power BI — Interactive Dashboard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5029200" cy="603504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216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📌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118872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 (3)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146304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• Avg Purchase • Avg Rating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74320" y="1856232"/>
            <a:ext cx="5029200" cy="603504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" y="1929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🍩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190195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Donut Chart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" y="2176272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Customers by Subscription Status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4320" y="2569464"/>
            <a:ext cx="5029200" cy="603504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0040" y="26426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2960" y="2615184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Charts (2)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22960" y="2889504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&amp; Sales by Category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74320" y="3282696"/>
            <a:ext cx="5029200" cy="603504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20040" y="3355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" y="3328416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Charts (2)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22960" y="3602736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&amp; Sales by Age Group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74320" y="3995928"/>
            <a:ext cx="5029200" cy="603504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2004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🎛️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22960" y="404164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Slicers (4)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22960" y="4315968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Subscription, Gender, Category, Shipping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532120" y="1143000"/>
            <a:ext cx="3337560" cy="37033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623560" y="12344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Dashboard Theme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623560" y="17373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Background: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995160" y="1737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#0F172A — Dark Navy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623560" y="22402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Containers: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995160" y="22402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#1E293B — Slate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623560" y="27432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Charts: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995160" y="2743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#0EA5E9 — Teal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623560" y="32461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Highlights: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995160" y="32461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#F59E0B — Gold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623560" y="37490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Text: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995160" y="37490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#FFFFFF — White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623560" y="4023360"/>
            <a:ext cx="3154680" cy="502920"/>
          </a:xfrm>
          <a:prstGeom prst="rect">
            <a:avLst/>
          </a:prstGeom>
          <a:solidFill>
            <a:srgbClr val="0891B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623560" y="402336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Interactive Slicers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💡  Key Business Insights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2743200" cy="16916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43000"/>
            <a:ext cx="27432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🏆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125272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EA5E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$104K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65760" y="17373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Clothing Dominates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65760" y="210312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revenue. Prioritize inventory &amp; marketing.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46120" y="1143000"/>
            <a:ext cx="2743200" cy="16916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143000"/>
            <a:ext cx="27432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333756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👥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840480" y="125272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$62K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337560" y="17373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 Adults = Top Spend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337560" y="210312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revenue group. Focus campaigns here.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217920" y="1143000"/>
            <a:ext cx="2743200" cy="16916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1143000"/>
            <a:ext cx="27432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630936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⚠️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812280" y="125272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27%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309360" y="17373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Gap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309360" y="210312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27% subscribed. Massive growth opportunity.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74320" y="3017520"/>
            <a:ext cx="2743200" cy="16916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3017520"/>
            <a:ext cx="2743200" cy="54864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📦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68680" y="312724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EA580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$19K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365760" y="36118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Outerwear Weak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65760" y="397764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revenue. Run campaigns or reduce stock.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246120" y="3017520"/>
            <a:ext cx="2743200" cy="16916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46120" y="3017520"/>
            <a:ext cx="2743200" cy="5486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0" name="Text 28"/>
          <p:cNvSpPr/>
          <p:nvPr/>
        </p:nvSpPr>
        <p:spPr>
          <a:xfrm>
            <a:off x="333756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🚀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3840480" y="312724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$60.48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3337560" y="36118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= Higher Spend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337560" y="397764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customers spend more. Promote fast delivery.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217920" y="3017520"/>
            <a:ext cx="2743200" cy="16916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217920" y="3017520"/>
            <a:ext cx="27432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6" name="Text 34"/>
          <p:cNvSpPr/>
          <p:nvPr/>
        </p:nvSpPr>
        <p:spPr>
          <a:xfrm>
            <a:off x="630936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🔒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6812280" y="312724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3,116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6309360" y="36118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Loyalty Base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309360" y="397764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 customers dominate. Launch rewards program.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📋  Business Recommendations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8595360" cy="667512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43000"/>
            <a:ext cx="502920" cy="66751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143000"/>
            <a:ext cx="5029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11978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 Subscriptions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149047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subscriber-only discounts &amp; early access deals. Target the 2,518 repeat buyers who are not subscribed.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74320" y="1901952"/>
            <a:ext cx="8595360" cy="667512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901952"/>
            <a:ext cx="502920" cy="66751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1901952"/>
            <a:ext cx="5029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68680" y="195681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Rewards Program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68680" y="2249424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tiered program (Silver/Gold/Platinum) for 3,116 loyal customers to increase retention and upsell.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74320" y="2660904"/>
            <a:ext cx="8595360" cy="667512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660904"/>
            <a:ext cx="502920" cy="667512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" y="2660904"/>
            <a:ext cx="5029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68680" y="27157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Express Shipping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68680" y="300837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express delivery in marketing. High-spend customers prefer it — this drives higher purchase amounts.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74320" y="3419856"/>
            <a:ext cx="8595360" cy="667512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419856"/>
            <a:ext cx="502920" cy="66751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3419856"/>
            <a:ext cx="5029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68680" y="3474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Outerwear Strategy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68680" y="376732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seasonal discount campaigns for Outerwear (only $19K revenue). If ROI is low, consider reducing inventory.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74320" y="4178808"/>
            <a:ext cx="8595360" cy="667512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4178808"/>
            <a:ext cx="502920" cy="66751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6" name="Text 24"/>
          <p:cNvSpPr/>
          <p:nvPr/>
        </p:nvSpPr>
        <p:spPr>
          <a:xfrm>
            <a:off x="274320" y="4178808"/>
            <a:ext cx="5029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68680" y="42336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Youth-First Marketing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68680" y="45262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 Adults (18–35) generate maximum revenue ($62K). Prioritize this segment in digital and social campaigns.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365760" y="155448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your attention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2286000"/>
            <a:ext cx="36576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24688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Mahesh Thakare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29260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| Python | SQL | Power BI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080760" y="54864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EA5E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3,900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080760" y="111556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Analyzed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080760" y="160020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EA5E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080760" y="216712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Queries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080760" y="265176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EA5E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080760" y="321868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Visuals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080760" y="370332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EA5E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080760" y="427024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4206240"/>
            <a:ext cx="1280160" cy="347472"/>
          </a:xfrm>
          <a:prstGeom prst="roundRect">
            <a:avLst>
              <a:gd name="adj" fmla="val 15789"/>
            </a:avLst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420624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83080" y="4206240"/>
            <a:ext cx="1280160" cy="347472"/>
          </a:xfrm>
          <a:prstGeom prst="roundRect">
            <a:avLst>
              <a:gd name="adj" fmla="val 15789"/>
            </a:avLst>
          </a:prstGeom>
          <a:solidFill>
            <a:srgbClr val="0891B2"/>
          </a:solidFill>
          <a:ln/>
        </p:spPr>
      </p:sp>
      <p:sp>
        <p:nvSpPr>
          <p:cNvPr id="19" name="Text 17"/>
          <p:cNvSpPr/>
          <p:nvPr/>
        </p:nvSpPr>
        <p:spPr>
          <a:xfrm>
            <a:off x="1783080" y="420624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0" y="4206240"/>
            <a:ext cx="1280160" cy="347472"/>
          </a:xfrm>
          <a:prstGeom prst="roundRect">
            <a:avLst>
              <a:gd name="adj" fmla="val 15789"/>
            </a:avLst>
          </a:prstGeom>
          <a:solidFill>
            <a:srgbClr val="EA580C"/>
          </a:solidFill>
          <a:ln/>
        </p:spPr>
      </p:sp>
      <p:sp>
        <p:nvSpPr>
          <p:cNvPr id="21" name="Text 19"/>
          <p:cNvSpPr/>
          <p:nvPr/>
        </p:nvSpPr>
        <p:spPr>
          <a:xfrm>
            <a:off x="3200400" y="420624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Shopping Behavior Analysis</dc:title>
  <dc:subject>PptxGenJS Presentation</dc:subject>
  <dc:creator>Mahesh Thakare</dc:creator>
  <cp:lastModifiedBy>Mahesh Thakare</cp:lastModifiedBy>
  <cp:revision>1</cp:revision>
  <dcterms:created xsi:type="dcterms:W3CDTF">2026-06-03T08:31:21Z</dcterms:created>
  <dcterms:modified xsi:type="dcterms:W3CDTF">2026-06-03T08:31:21Z</dcterms:modified>
</cp:coreProperties>
</file>